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35"/>
  </p:notesMasterIdLst>
  <p:handoutMasterIdLst>
    <p:handoutMasterId r:id="rId36"/>
  </p:handoutMasterIdLst>
  <p:sldIdLst>
    <p:sldId id="256" r:id="rId2"/>
    <p:sldId id="295" r:id="rId3"/>
    <p:sldId id="267" r:id="rId4"/>
    <p:sldId id="268" r:id="rId5"/>
    <p:sldId id="329" r:id="rId6"/>
    <p:sldId id="328" r:id="rId7"/>
    <p:sldId id="257" r:id="rId8"/>
    <p:sldId id="296" r:id="rId9"/>
    <p:sldId id="297" r:id="rId10"/>
    <p:sldId id="298" r:id="rId11"/>
    <p:sldId id="258" r:id="rId12"/>
    <p:sldId id="299" r:id="rId13"/>
    <p:sldId id="303" r:id="rId14"/>
    <p:sldId id="304" r:id="rId15"/>
    <p:sldId id="305" r:id="rId16"/>
    <p:sldId id="330" r:id="rId17"/>
    <p:sldId id="300" r:id="rId18"/>
    <p:sldId id="306" r:id="rId19"/>
    <p:sldId id="307" r:id="rId20"/>
    <p:sldId id="308" r:id="rId21"/>
    <p:sldId id="309" r:id="rId22"/>
    <p:sldId id="301" r:id="rId23"/>
    <p:sldId id="311" r:id="rId24"/>
    <p:sldId id="310" r:id="rId25"/>
    <p:sldId id="331" r:id="rId26"/>
    <p:sldId id="335" r:id="rId27"/>
    <p:sldId id="284" r:id="rId28"/>
    <p:sldId id="285" r:id="rId29"/>
    <p:sldId id="286" r:id="rId30"/>
    <p:sldId id="287" r:id="rId31"/>
    <p:sldId id="315" r:id="rId32"/>
    <p:sldId id="259" r:id="rId33"/>
    <p:sldId id="316" r:id="rId3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94660"/>
  </p:normalViewPr>
  <p:slideViewPr>
    <p:cSldViewPr snapToGrid="0" snapToObjects="1">
      <p:cViewPr varScale="1">
        <p:scale>
          <a:sx n="65" d="100"/>
          <a:sy n="65" d="100"/>
        </p:scale>
        <p:origin x="1536" y="78"/>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3911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10/30/2024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10/30/2024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3" name="Subtitle 2"/>
          <p:cNvSpPr>
            <a:spLocks noGrp="1"/>
          </p:cNvSpPr>
          <p:nvPr>
            <p:ph type="subTitle" idx="1"/>
          </p:nvPr>
        </p:nvSpPr>
        <p:spPr/>
        <p:txBody>
          <a:bodyPr/>
          <a:lstStyle/>
          <a:p>
            <a:pPr eaLnBrk="1" fontAlgn="auto" hangingPunct="1">
              <a:spcAft>
                <a:spcPts val="0"/>
              </a:spcAft>
              <a:buFont typeface="Arial"/>
              <a:buNone/>
              <a:defRPr/>
            </a:pPr>
            <a:endParaRPr lang="en-US" dirty="0">
              <a:ea typeface="+mn-ea"/>
              <a:cs typeface="+mn-cs"/>
            </a:endParaRP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a:p>
            <a:r>
              <a:rPr lang="en-US" dirty="0"/>
              <a:t>Case studies</a:t>
            </a:r>
          </a:p>
          <a:p>
            <a:pPr lvl="1"/>
            <a:r>
              <a:rPr lang="en-US" dirty="0"/>
              <a:t>An introduction to three examples that are used in later chapters in the book.</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t>Software specification, where customers and engineers define the software that is to be produced and the constraints on its operation.</a:t>
            </a:r>
          </a:p>
          <a:p>
            <a:r>
              <a:rPr lang="en-GB" dirty="0"/>
              <a:t>Software development, where the software is designed and programmed.</a:t>
            </a:r>
          </a:p>
          <a:p>
            <a:r>
              <a:rPr lang="en-GB" dirty="0"/>
              <a:t>Software validation, where the software is checked to ensure that it is what the customer requires.</a:t>
            </a:r>
          </a:p>
          <a:p>
            <a:r>
              <a:rPr lang="en-GB" dirty="0"/>
              <a:t>Software evolution,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a:t>
            </a:r>
            <a:r>
              <a:rPr lang="en-GB" dirty="0" err="1"/>
              <a:t>modeling</a:t>
            </a:r>
            <a:r>
              <a:rPr lang="en-GB" dirty="0"/>
              <a:t>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(discussed in Chapter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  </a:t>
            </a:r>
          </a:p>
          <a:p>
            <a:r>
              <a:rPr lang="en-GB" dirty="0"/>
              <a:t>Rich interfaces</a:t>
            </a:r>
          </a:p>
          <a:p>
            <a:pPr lvl="1"/>
            <a:r>
              <a:rPr lang="en-GB" dirty="0"/>
              <a:t>Interface development technologies such as AJAX and HTML5 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8" name="Rectangle 4"/>
          <p:cNvSpPr>
            <a:spLocks noGrp="1" noChangeArrowheads="1"/>
          </p:cNvSpPr>
          <p:nvPr>
            <p:ph type="title"/>
          </p:nvPr>
        </p:nvSpPr>
        <p:spPr/>
        <p:txBody>
          <a:bodyPr/>
          <a:lstStyle/>
          <a:p>
            <a:r>
              <a:rPr lang="en-GB" dirty="0"/>
              <a:t>ACM/IEEE Code of Ethics</a:t>
            </a:r>
          </a:p>
        </p:txBody>
      </p:sp>
      <p:sp>
        <p:nvSpPr>
          <p:cNvPr id="82949" name="Rectangle 5"/>
          <p:cNvSpPr>
            <a:spLocks noGrp="1" noChangeArrowheads="1"/>
          </p:cNvSpPr>
          <p:nvPr>
            <p:ph idx="1"/>
          </p:nvPr>
        </p:nvSpPr>
        <p:spPr/>
        <p:txBody>
          <a:bodyPr/>
          <a:lstStyle/>
          <a:p>
            <a:pPr>
              <a:lnSpc>
                <a:spcPct val="90000"/>
              </a:lnSpc>
            </a:pPr>
            <a:r>
              <a:rPr lang="en-GB" dirty="0"/>
              <a:t>The professional societies in the US have cooperated to produce a code of ethical practice.</a:t>
            </a:r>
          </a:p>
          <a:p>
            <a:pPr>
              <a:lnSpc>
                <a:spcPct val="90000"/>
              </a:lnSpc>
            </a:pPr>
            <a:r>
              <a:rPr lang="en-GB" dirty="0"/>
              <a:t>Members of these organisations sign up to the code of practice when they join.</a:t>
            </a:r>
          </a:p>
          <a:p>
            <a:pPr>
              <a:lnSpc>
                <a:spcPct val="90000"/>
              </a:lnSpc>
            </a:pPr>
            <a:r>
              <a:rPr lang="en-GB" dirty="0"/>
              <a:t>The Code contains eight Principles related to the behaviour of and decisions made by professional software engineers, including practitioners, educators, managers, supervisors and policy makers, as well as trainees and students of the profession.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30</a:t>
            </a:fld>
            <a:endParaRPr lang="en-US"/>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Rationale for the code of ethics</a:t>
            </a:r>
          </a:p>
        </p:txBody>
      </p:sp>
      <p:sp>
        <p:nvSpPr>
          <p:cNvPr id="3" name="Content Placeholder 2"/>
          <p:cNvSpPr>
            <a:spLocks noGrp="1"/>
          </p:cNvSpPr>
          <p:nvPr>
            <p:ph idx="1"/>
          </p:nvPr>
        </p:nvSpPr>
        <p:spPr/>
        <p:txBody>
          <a:bodyPr/>
          <a:lstStyle/>
          <a:p>
            <a:pPr lvl="1"/>
            <a:r>
              <a:rPr lang="en-GB" i="1" dirty="0"/>
              <a:t>Computers have a central and growing role in commerce, industry, government, medicine, education, entertainment and society at large. Software engineers are those who contribute by direct participation or by teaching, to the analysis, specification, design, development, certification, maintenance and testing of software systems. </a:t>
            </a:r>
          </a:p>
          <a:p>
            <a:pPr lvl="1"/>
            <a:r>
              <a:rPr lang="en-GB" i="1" dirty="0"/>
              <a:t>Because of their roles in developing software systems, software engineers have significant</a:t>
            </a:r>
            <a:r>
              <a:rPr lang="en-GB" dirty="0"/>
              <a:t> </a:t>
            </a:r>
            <a:r>
              <a:rPr lang="en-GB" i="1" dirty="0"/>
              <a:t>opportunities to do good or cause harm, to enable others to do good or cause harm, or to influence others to do good or cause harm. To ensure, as much as possible, that their efforts will be used for good, software engineers must commit themselves to making software engineering a beneficial and respected profession.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31</a:t>
            </a:fld>
            <a:endParaRPr lang="en-US"/>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The ACM/IEEE Code of Ethics </a:t>
            </a:r>
            <a:endParaRPr lang="en-US" dirty="0"/>
          </a:p>
        </p:txBody>
      </p:sp>
      <p:sp>
        <p:nvSpPr>
          <p:cNvPr id="6" name="TextBox 5"/>
          <p:cNvSpPr txBox="1"/>
          <p:nvPr/>
        </p:nvSpPr>
        <p:spPr>
          <a:xfrm>
            <a:off x="457200" y="1616194"/>
            <a:ext cx="8461312" cy="4231927"/>
          </a:xfrm>
          <a:prstGeom prst="rect">
            <a:avLst/>
          </a:prstGeom>
          <a:solidFill>
            <a:srgbClr val="FFFF00">
              <a:alpha val="34000"/>
            </a:srgbClr>
          </a:solidFill>
        </p:spPr>
        <p:txBody>
          <a:bodyPr wrap="square" rtlCol="0">
            <a:spAutoFit/>
          </a:bodyPr>
          <a:lstStyle/>
          <a:p>
            <a:r>
              <a:rPr lang="en-US" sz="1600" b="1" dirty="0"/>
              <a:t>Software Engineering Code of Ethics and Professional Practice</a:t>
            </a:r>
          </a:p>
          <a:p>
            <a:endParaRPr lang="en-GB" sz="1600" dirty="0"/>
          </a:p>
          <a:p>
            <a:r>
              <a:rPr lang="en-US" sz="1600" dirty="0"/>
              <a:t>ACM/IEEE-CS Joint Task Force on Software Engineering Ethics and Professional Practices</a:t>
            </a:r>
          </a:p>
          <a:p>
            <a:r>
              <a:rPr lang="en-US" sz="1600" b="1" dirty="0"/>
              <a:t> </a:t>
            </a:r>
            <a:endParaRPr lang="en-GB" sz="1600" dirty="0"/>
          </a:p>
          <a:p>
            <a:r>
              <a:rPr lang="en-US" sz="1600" b="1" dirty="0"/>
              <a:t>PREAMBLE</a:t>
            </a:r>
            <a:endParaRPr lang="en-GB" sz="1600" dirty="0"/>
          </a:p>
          <a:p>
            <a:pPr>
              <a:spcAft>
                <a:spcPts val="600"/>
              </a:spcAft>
            </a:pPr>
            <a:r>
              <a:rPr lang="en-US" sz="1600" dirty="0"/>
              <a:t>The short version of the code summarizes aspirations at a high level of the abstraction; the clauses that are included in the full version give examples and details of how these aspirations change the way we act as software engineering professionals. Without the aspirations, the details can become legalistic and tedious; without the details, the aspirations can become high sounding but empty; together, the aspirations and the details form a cohesive code.</a:t>
            </a:r>
            <a:endParaRPr lang="en-GB" sz="1600" dirty="0"/>
          </a:p>
          <a:p>
            <a:r>
              <a:rPr lang="en-US" sz="1600" dirty="0"/>
              <a:t>Software engineers shall commit themselves to making the analysis, specification, design, development, testing and maintenance of software a beneficial and respected profession. In accordance with their commitment to the health, safety and welfare of the public, software engineers shall adhere to the following Eight Principles:</a:t>
            </a:r>
            <a:endParaRPr lang="en-GB" sz="1600" dirty="0"/>
          </a:p>
          <a:p>
            <a:r>
              <a:rPr lang="en-US" sz="1200" dirty="0"/>
              <a:t> </a:t>
            </a:r>
            <a:endParaRPr lang="en-GB" sz="1200" dirty="0"/>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32</a:t>
            </a:fld>
            <a:endParaRPr lang="en-US"/>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itle 1"/>
          <p:cNvSpPr>
            <a:spLocks noGrp="1"/>
          </p:cNvSpPr>
          <p:nvPr>
            <p:ph type="title"/>
          </p:nvPr>
        </p:nvSpPr>
        <p:spPr>
          <a:xfrm>
            <a:off x="457200" y="331897"/>
            <a:ext cx="6873874" cy="836957"/>
          </a:xfrm>
        </p:spPr>
        <p:txBody>
          <a:bodyPr/>
          <a:lstStyle/>
          <a:p>
            <a:pPr eaLnBrk="1" hangingPunct="1"/>
            <a:r>
              <a:rPr lang="en-GB" dirty="0"/>
              <a:t>Ethical principles</a:t>
            </a:r>
            <a:endParaRPr lang="en-US" dirty="0"/>
          </a:p>
        </p:txBody>
      </p:sp>
      <p:sp>
        <p:nvSpPr>
          <p:cNvPr id="6" name="TextBox 5"/>
          <p:cNvSpPr txBox="1"/>
          <p:nvPr/>
        </p:nvSpPr>
        <p:spPr>
          <a:xfrm>
            <a:off x="457200" y="1616194"/>
            <a:ext cx="8461312" cy="4770537"/>
          </a:xfrm>
          <a:prstGeom prst="rect">
            <a:avLst/>
          </a:prstGeom>
          <a:solidFill>
            <a:srgbClr val="FFFF00">
              <a:alpha val="34000"/>
            </a:srgbClr>
          </a:solidFill>
        </p:spPr>
        <p:txBody>
          <a:bodyPr wrap="square" rtlCol="0">
            <a:spAutoFit/>
          </a:bodyPr>
          <a:lstStyle/>
          <a:p>
            <a:r>
              <a:rPr lang="en-US" sz="1200" dirty="0"/>
              <a:t> </a:t>
            </a:r>
            <a:endParaRPr lang="en-GB" sz="1200" dirty="0"/>
          </a:p>
          <a:p>
            <a:pPr>
              <a:spcAft>
                <a:spcPts val="600"/>
              </a:spcAft>
            </a:pPr>
            <a:r>
              <a:rPr lang="en-US" sz="1600" dirty="0"/>
              <a:t>1. PUBLIC - Software engineers shall act consistently with the public interest.</a:t>
            </a:r>
            <a:endParaRPr lang="en-GB" sz="1600" dirty="0"/>
          </a:p>
          <a:p>
            <a:pPr>
              <a:spcAft>
                <a:spcPts val="600"/>
              </a:spcAft>
            </a:pPr>
            <a:r>
              <a:rPr lang="en-GB" sz="1600" dirty="0"/>
              <a:t>2. CLIENT AND EMPLOYER - Software engineers shall act in a manner that is in the best interests of their client and employer consistent with the public interest.</a:t>
            </a:r>
          </a:p>
          <a:p>
            <a:pPr>
              <a:spcAft>
                <a:spcPts val="600"/>
              </a:spcAft>
            </a:pPr>
            <a:r>
              <a:rPr lang="en-US" sz="1600" dirty="0"/>
              <a:t>3. PRODUCT - Software engineers shall ensure that their products and related modifications meet the highest professional standards possible.</a:t>
            </a:r>
            <a:endParaRPr lang="en-GB" sz="1600" dirty="0"/>
          </a:p>
          <a:p>
            <a:pPr>
              <a:spcAft>
                <a:spcPts val="600"/>
              </a:spcAft>
            </a:pPr>
            <a:r>
              <a:rPr lang="en-US" sz="1600" dirty="0"/>
              <a:t>4. JUDGMENT - Software engineers shall maintain integrity and independence in their professional judgment.</a:t>
            </a:r>
            <a:endParaRPr lang="en-GB" sz="1600" dirty="0"/>
          </a:p>
          <a:p>
            <a:pPr>
              <a:spcAft>
                <a:spcPts val="600"/>
              </a:spcAft>
            </a:pPr>
            <a:r>
              <a:rPr lang="en-US" sz="1600" dirty="0"/>
              <a:t>5. MANAGEMENT - Software engineering managers and leaders shall subscribe to and promote an ethical approach to the management of software development and maintenance.</a:t>
            </a:r>
            <a:endParaRPr lang="en-GB" sz="1600" dirty="0"/>
          </a:p>
          <a:p>
            <a:pPr>
              <a:spcAft>
                <a:spcPts val="600"/>
              </a:spcAft>
            </a:pPr>
            <a:r>
              <a:rPr lang="en-US" sz="1600" dirty="0"/>
              <a:t>6. PROFESSION - Software engineers shall advance the integrity and reputation of the profession consistent with the public interest.</a:t>
            </a:r>
            <a:endParaRPr lang="en-GB" sz="1600" dirty="0"/>
          </a:p>
          <a:p>
            <a:pPr>
              <a:spcAft>
                <a:spcPts val="600"/>
              </a:spcAft>
            </a:pPr>
            <a:r>
              <a:rPr lang="en-US" sz="1600" dirty="0"/>
              <a:t>7. COLLEAGUES - Software engineers shall be fair to and supportive of their colleagues.</a:t>
            </a:r>
            <a:endParaRPr lang="en-GB" sz="1600" dirty="0"/>
          </a:p>
          <a:p>
            <a:pPr>
              <a:spcAft>
                <a:spcPts val="600"/>
              </a:spcAft>
            </a:pPr>
            <a:r>
              <a:rPr lang="en-US" sz="1600" dirty="0"/>
              <a:t>8. SELF - Software engineers shall participate in lifelong learning regarding the practice of their profession and shall promote an ethical approach to the practice of the profession.</a:t>
            </a:r>
          </a:p>
          <a:p>
            <a:endParaRPr lang="en-US" sz="1200" dirty="0"/>
          </a:p>
        </p:txBody>
      </p:sp>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33</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1946</TotalTime>
  <Words>2857</Words>
  <Application>Microsoft Office PowerPoint</Application>
  <PresentationFormat>On-screen Show (4:3)</PresentationFormat>
  <Paragraphs>282</Paragraphs>
  <Slides>33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Wingdings</vt: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ACM/IEEE Code of Ethics</vt:lpstr>
      <vt:lpstr>Rationale for the code of ethics</vt:lpstr>
      <vt:lpstr>The ACM/IEEE Code of Ethics </vt:lpstr>
      <vt:lpstr>Ethical principles</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kiran kumar</cp:lastModifiedBy>
  <cp:revision>28</cp:revision>
  <dcterms:created xsi:type="dcterms:W3CDTF">2009-12-29T10:39:27Z</dcterms:created>
  <dcterms:modified xsi:type="dcterms:W3CDTF">2024-10-30T10:08:20Z</dcterms:modified>
</cp:coreProperties>
</file>